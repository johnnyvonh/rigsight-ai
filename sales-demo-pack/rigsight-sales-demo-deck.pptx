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3f4d9233b642c9" /><Relationship Type="http://schemas.openxmlformats.org/officeDocument/2006/relationships/extended-properties" Target="/docProps/app.xml" Id="R93c94f0285634e79" /><Relationship Type="http://schemas.openxmlformats.org/officeDocument/2006/relationships/officeDocument" Target="/ppt/presentation.xml" Id="R67ad831a615940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948eb584c6422e"/>
  </p:sldMasterIdLst>
  <p:notesMasterIdLst>
    <p:notesMasterId xmlns:r="http://schemas.openxmlformats.org/officeDocument/2006/relationships" r:id="R89cc8d9dea0e4fa2"/>
  </p:notesMasterIdLst>
  <p:sldIdLst>
    <p:sldId xmlns:r="http://schemas.openxmlformats.org/officeDocument/2006/relationships" id="256" r:id="R619add5239604fe8"/>
    <p:sldId xmlns:r="http://schemas.openxmlformats.org/officeDocument/2006/relationships" id="257" r:id="Rd699f8b566d1472d"/>
    <p:sldId xmlns:r="http://schemas.openxmlformats.org/officeDocument/2006/relationships" id="258" r:id="Rb43a38c2c6b242df"/>
    <p:sldId xmlns:r="http://schemas.openxmlformats.org/officeDocument/2006/relationships" id="259" r:id="Ra1302af43bbb49cd"/>
    <p:sldId xmlns:r="http://schemas.openxmlformats.org/officeDocument/2006/relationships" id="260" r:id="Rf10dcff023b047c9"/>
    <p:sldId xmlns:r="http://schemas.openxmlformats.org/officeDocument/2006/relationships" id="261" r:id="Rcf4943790e8d42fe"/>
    <p:sldId xmlns:r="http://schemas.openxmlformats.org/officeDocument/2006/relationships" id="262" r:id="Ra6bdff3df6bc48d1"/>
    <p:sldId xmlns:r="http://schemas.openxmlformats.org/officeDocument/2006/relationships" id="263" r:id="R6efe36bd495d4d29"/>
    <p:sldId xmlns:r="http://schemas.openxmlformats.org/officeDocument/2006/relationships" id="264" r:id="R94af954701f4476f"/>
    <p:sldId xmlns:r="http://schemas.openxmlformats.org/officeDocument/2006/relationships" id="265" r:id="R60b6b9da509641f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c1ce06f7074fff" /><Relationship Type="http://schemas.openxmlformats.org/officeDocument/2006/relationships/slideMaster" Target="/ppt/slideMasters/slideMaster1.xml" Id="Rde948eb584c6422e" /><Relationship Type="http://schemas.openxmlformats.org/officeDocument/2006/relationships/notesMaster" Target="/ppt/notesMasters/notesMaster1.xml" Id="R89cc8d9dea0e4fa2" /><Relationship Type="http://schemas.openxmlformats.org/officeDocument/2006/relationships/presProps" Target="/ppt/presProps.xml" Id="R84b6821f0e414259" /><Relationship Type="http://schemas.openxmlformats.org/officeDocument/2006/relationships/tableStyles" Target="/ppt/tableStyles.xml" Id="R1afccecd6aa1420c" /><Relationship Type="http://schemas.openxmlformats.org/officeDocument/2006/relationships/slide" Target="/ppt/slides/slide1.xml" Id="R619add5239604fe8" /><Relationship Type="http://schemas.openxmlformats.org/officeDocument/2006/relationships/slide" Target="/ppt/slides/slide2.xml" Id="Rd699f8b566d1472d" /><Relationship Type="http://schemas.openxmlformats.org/officeDocument/2006/relationships/slide" Target="/ppt/slides/slide3.xml" Id="Rb43a38c2c6b242df" /><Relationship Type="http://schemas.openxmlformats.org/officeDocument/2006/relationships/slide" Target="/ppt/slides/slide4.xml" Id="Ra1302af43bbb49cd" /><Relationship Type="http://schemas.openxmlformats.org/officeDocument/2006/relationships/slide" Target="/ppt/slides/slide5.xml" Id="Rf10dcff023b047c9" /><Relationship Type="http://schemas.openxmlformats.org/officeDocument/2006/relationships/slide" Target="/ppt/slides/slide6.xml" Id="Rcf4943790e8d42fe" /><Relationship Type="http://schemas.openxmlformats.org/officeDocument/2006/relationships/slide" Target="/ppt/slides/slide7.xml" Id="Ra6bdff3df6bc48d1" /><Relationship Type="http://schemas.openxmlformats.org/officeDocument/2006/relationships/slide" Target="/ppt/slides/slide8.xml" Id="R6efe36bd495d4d29" /><Relationship Type="http://schemas.openxmlformats.org/officeDocument/2006/relationships/slide" Target="/ppt/slides/slide9.xml" Id="R94af954701f4476f" /><Relationship Type="http://schemas.openxmlformats.org/officeDocument/2006/relationships/slide" Target="/ppt/slides/slide10.xml" Id="R60b6b9da509641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96c2c415774a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47f6a238864ac5" /><Relationship Type="http://schemas.openxmlformats.org/officeDocument/2006/relationships/notesMaster" Target="/ppt/notesMasters/notesMaster1.xml" Id="Re0431865a33a41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fba9dc6c674c81" /><Relationship Type="http://schemas.openxmlformats.org/officeDocument/2006/relationships/notesMaster" Target="/ppt/notesMasters/notesMaster1.xml" Id="R9772f4c74dc246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81f08476e54c55" /><Relationship Type="http://schemas.openxmlformats.org/officeDocument/2006/relationships/notesMaster" Target="/ppt/notesMasters/notesMaster1.xml" Id="R2ce8eb8067ae40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074f11a52b4222" /><Relationship Type="http://schemas.openxmlformats.org/officeDocument/2006/relationships/notesMaster" Target="/ppt/notesMasters/notesMaster1.xml" Id="R94fbbb9b73a948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74917a7f2f40d3" /><Relationship Type="http://schemas.openxmlformats.org/officeDocument/2006/relationships/notesMaster" Target="/ppt/notesMasters/notesMaster1.xml" Id="R6bd78d9b662745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d74b9388e84d40" /><Relationship Type="http://schemas.openxmlformats.org/officeDocument/2006/relationships/notesMaster" Target="/ppt/notesMasters/notesMaster1.xml" Id="R8937e2fa8cd04e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7b2e20864c40e0" /><Relationship Type="http://schemas.openxmlformats.org/officeDocument/2006/relationships/notesMaster" Target="/ppt/notesMasters/notesMaster1.xml" Id="R34421b30ff2147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e4de0372a84cc7" /><Relationship Type="http://schemas.openxmlformats.org/officeDocument/2006/relationships/notesMaster" Target="/ppt/notesMasters/notesMaster1.xml" Id="R3b5e1fdccd4041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47a66771f64463" /><Relationship Type="http://schemas.openxmlformats.org/officeDocument/2006/relationships/notesMaster" Target="/ppt/notesMasters/notesMaster1.xml" Id="Rfc8918a954c84a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5fffb276ef4a38" /><Relationship Type="http://schemas.openxmlformats.org/officeDocument/2006/relationships/notesMaster" Target="/ppt/notesMasters/notesMaster1.xml" Id="R77baacf141124c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buyer problem: test teams already have sensor data, but review and reporting are still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short. The audience should hear their current workflow in plain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the live demo here. Point to action required, the active run, high alerts, and review backlog.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transition from overview to detailed investigation.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one alert during the live demo and read the Why this fired section aloud.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the product becomes an operational workflow rather than a chart viewer.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to run one of their sanitized CSVs through a paid pilot after the 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handles technical buyer questions without making infrastructure the main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commercial close: a paid pilot, not broad SaaS procurement.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clear that the hosted demo is for guided sales and pilots, not open signup.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05709ab1a04f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e3e5823bf74436" /><Relationship Type="http://schemas.openxmlformats.org/officeDocument/2006/relationships/slideLayout" Target="/ppt/slideLayouts/slideLayout1.xml" Id="R11ddd5177c3a44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ddd5177c3a44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55fd9f75d4df6" /><Relationship Type="http://schemas.openxmlformats.org/officeDocument/2006/relationships/notesSlide" Target="/ppt/notesSlides/notesSlide1.xml" Id="Ra1776e436f3d46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087078bc54fcc" /><Relationship Type="http://schemas.openxmlformats.org/officeDocument/2006/relationships/notesSlide" Target="/ppt/notesSlides/notesSlide2.xml" Id="Rd93c9ffdf8f643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b69b6c3094b34" /><Relationship Type="http://schemas.openxmlformats.org/officeDocument/2006/relationships/image" Target="/ppt/media/image.png" Id="Rf42067c6c8af47b0" /><Relationship Type="http://schemas.openxmlformats.org/officeDocument/2006/relationships/notesSlide" Target="/ppt/notesSlides/notesSlide3.xml" Id="Rc9cd741365b640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8d10760f44d35" /><Relationship Type="http://schemas.openxmlformats.org/officeDocument/2006/relationships/image" Target="/ppt/media/image2.png" Id="R03a54aa1b1d04dc9" /><Relationship Type="http://schemas.openxmlformats.org/officeDocument/2006/relationships/notesSlide" Target="/ppt/notesSlides/notesSlide4.xml" Id="Ra472defb2f4b46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2c403e23b480e" /><Relationship Type="http://schemas.openxmlformats.org/officeDocument/2006/relationships/image" Target="/ppt/media/image3.png" Id="R5ead41d94e204a5b" /><Relationship Type="http://schemas.openxmlformats.org/officeDocument/2006/relationships/notesSlide" Target="/ppt/notesSlides/notesSlide5.xml" Id="R904f941609db4e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6ea86d3ab41c8" /><Relationship Type="http://schemas.openxmlformats.org/officeDocument/2006/relationships/image" Target="/ppt/media/image4.png" Id="Rec66ecaca5674488" /><Relationship Type="http://schemas.openxmlformats.org/officeDocument/2006/relationships/notesSlide" Target="/ppt/notesSlides/notesSlide6.xml" Id="Rcce7aed92a4c4f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8b125a86043e2" /><Relationship Type="http://schemas.openxmlformats.org/officeDocument/2006/relationships/image" Target="/ppt/media/image5.png" Id="R87d42dfcb33f4efa" /><Relationship Type="http://schemas.openxmlformats.org/officeDocument/2006/relationships/notesSlide" Target="/ppt/notesSlides/notesSlide7.xml" Id="Rf8467cbd58c443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15ead762247c7" /><Relationship Type="http://schemas.openxmlformats.org/officeDocument/2006/relationships/image" Target="/ppt/media/image6.png" Id="R182b4f20253b487a" /><Relationship Type="http://schemas.openxmlformats.org/officeDocument/2006/relationships/notesSlide" Target="/ppt/notesSlides/notesSlide8.xml" Id="Rbc4bc8e119b549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8a7550c7a4093" /><Relationship Type="http://schemas.openxmlformats.org/officeDocument/2006/relationships/notesSlide" Target="/ppt/notesSlides/notesSlide9.xml" Id="R9e392be55eb949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4da9434e54437" /><Relationship Type="http://schemas.openxmlformats.org/officeDocument/2006/relationships/notesSlide" Target="/ppt/notesSlides/notesSlide10.xml" Id="R4251916cfcb647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2DA71D-3615-4B80-84B2-AAE21886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9F07C-55AD-4383-BFB5-F5B63EF8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33350"/>
            <a:ext cx="990600" cy="672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28EE2-DAA0-4B5E-B9E4-568C04D2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7E6B"/>
                </a:solidFill>
              </a:defRPr>
            </a:pPr>
            <a:r>
              <a:rPr sz="1125" b="1">
                <a:solidFill>
                  <a:srgbClr val="1D7E6B"/>
                </a:solidFill>
              </a:rPr>
              <a:t>PAID PILOT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93B83-D0AC-4A66-9567-94675A20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1A2A"/>
                </a:solidFill>
              </a:defRPr>
            </a:pPr>
            <a:r>
              <a:rPr sz="4050" b="1">
                <a:solidFill>
                  <a:srgbClr val="0F1A2A"/>
                </a:solidFill>
              </a:rPr>
              <a:t>RigSight AI turns test-run data into reviewed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5B9B4-3448-4856-ADED-1139DE05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8677D"/>
                </a:solidFill>
              </a:defRPr>
            </a:pPr>
            <a:r>
              <a:rPr sz="1725">
                <a:solidFill>
                  <a:srgbClr val="58677D"/>
                </a:solidFill>
              </a:rPr>
              <a:t>A demo deck for engineering validation teams that need faster anomaly triage, cleaner review decisions, and customer-ready run reports.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1DDDE-0DBF-46BD-86DE-808CE044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EF439-556A-4003-8AC3-B67D9B77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A2A"/>
                </a:solidFill>
              </a:defRPr>
            </a:pPr>
            <a:r>
              <a:rPr sz="3150" b="1">
                <a:solidFill>
                  <a:srgbClr val="0F1A2A"/>
                </a:solidFill>
              </a:rPr>
              <a:t>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D03E7-80A9-47F1-B879-15D87BE8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8677D"/>
                </a:solidFill>
              </a:defRPr>
            </a:pPr>
            <a:r>
              <a:rPr sz="1200" b="1">
                <a:solidFill>
                  <a:srgbClr val="58677D"/>
                </a:solidFill>
              </a:rPr>
              <a:t>Import sanitized pilot telemetry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29E8E-3DAA-46D4-AED6-D3B8C24D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196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25869-945E-4B6C-8E50-C6202664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2920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A2A"/>
                </a:solidFill>
              </a:defRPr>
            </a:pPr>
            <a:r>
              <a:rPr sz="3150" b="1">
                <a:solidFill>
                  <a:srgbClr val="0F1A2A"/>
                </a:solidFill>
              </a:rPr>
              <a:t>Alerts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AEE7E-82F0-479C-A53D-13AA5EDC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6007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8677D"/>
                </a:solidFill>
              </a:defRPr>
            </a:pPr>
            <a:r>
              <a:rPr sz="1200" b="1">
                <a:solidFill>
                  <a:srgbClr val="58677D"/>
                </a:solidFill>
              </a:rPr>
              <a:t>Explain what changed and why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85659-A4FC-447A-8691-FCE0FB48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19650"/>
            <a:ext cx="2381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19BAF-0B6A-4B60-837C-897CF446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2920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A2A"/>
                </a:solidFill>
              </a:defRPr>
            </a:pPr>
            <a:r>
              <a:rPr sz="3150" b="1">
                <a:solidFill>
                  <a:srgbClr val="0F1A2A"/>
                </a:solidFill>
              </a:rPr>
              <a:t>PDF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814062-AF33-41C8-9757-45A0DD59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007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8677D"/>
                </a:solidFill>
              </a:defRPr>
            </a:pPr>
            <a:r>
              <a:rPr sz="1200" b="1">
                <a:solidFill>
                  <a:srgbClr val="58677D"/>
                </a:solidFill>
              </a:rPr>
              <a:t>Export a report from the 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B02C8-64C1-4D4A-8706-0176E041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RigSight AI sales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B3C69-FD78-4150-BFF1-E2829896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96311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13567B-6EDC-4881-BE18-451FD485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D22"/>
          </a:solidFill>
          <a:ln xmlns:a="http://schemas.openxmlformats.org/drawingml/2006/main" w="0">
            <a:solidFill>
              <a:srgbClr val="C16D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BF9CF-CBF1-427E-AD6D-3B89309D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33350"/>
            <a:ext cx="990600" cy="672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B4330-08A1-4B0B-B368-D249EC87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7E6B"/>
                </a:solidFill>
              </a:defRPr>
            </a:pPr>
            <a:r>
              <a:rPr sz="1125" b="1">
                <a:solidFill>
                  <a:srgbClr val="1D7E6B"/>
                </a:solidFill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1C4B9-4920-443C-BC43-3F777690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57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1A2A"/>
                </a:solidFill>
              </a:defRPr>
            </a:pPr>
            <a:r>
              <a:rPr sz="4050" b="1">
                <a:solidFill>
                  <a:srgbClr val="0F1A2A"/>
                </a:solidFill>
              </a:rPr>
              <a:t>Validation teams lose time turning raw telemetry into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9F21C-00B7-4C71-A1A9-C1E0A1F3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E89A8-007F-471C-93E4-69C04518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1A2A"/>
                </a:solidFill>
              </a:defRPr>
            </a:pPr>
            <a:r>
              <a:rPr sz="1800">
                <a:solidFill>
                  <a:srgbClr val="0F1A2A"/>
                </a:solidFill>
              </a:rPr>
              <a:t>Sensor CSVs are easy to collect but slow to interpret consistently.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B22CB5-59FD-4886-9AA6-99ECD1AE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8C"/>
          </a:solidFill>
          <a:ln xmlns:a="http://schemas.openxmlformats.org/drawingml/2006/main" w="0">
            <a:solidFill>
              <a:srgbClr val="1F5B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B6B5D-3DA4-4C01-AC0A-A20BF1C8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1A2A"/>
                </a:solidFill>
              </a:defRPr>
            </a:pPr>
            <a:r>
              <a:rPr sz="1800">
                <a:solidFill>
                  <a:srgbClr val="0F1A2A"/>
                </a:solidFill>
              </a:rPr>
              <a:t>Threshold checks are often scattered across scripts, spreadsheets, or tribal knowledge.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AF52E-8887-4B5E-8D19-A8BEC505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A52F9-EB08-4828-B7A0-62AE6968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1A2A"/>
                </a:solidFill>
              </a:defRPr>
            </a:pPr>
            <a:r>
              <a:rPr sz="1800">
                <a:solidFill>
                  <a:srgbClr val="0F1A2A"/>
                </a:solidFill>
              </a:rPr>
              <a:t>Reports are assembled after the fact, when the decision trail is already fading.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6B10E-D510-4A31-84B6-ED56C7F7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8C"/>
          </a:solidFill>
          <a:ln xmlns:a="http://schemas.openxmlformats.org/drawingml/2006/main" w="0">
            <a:solidFill>
              <a:srgbClr val="1F5B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37958-AFCC-4F10-BCCF-DC939B7F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F1A2A"/>
                </a:solidFill>
              </a:defRPr>
            </a:pPr>
            <a:r>
              <a:rPr sz="1800">
                <a:solidFill>
                  <a:srgbClr val="0F1A2A"/>
                </a:solidFill>
              </a:rPr>
              <a:t>A pilot has to prove value without requiring proprietary data or enterprise auth first.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D2C38-BF76-4461-BBDD-1CD40A9A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028700"/>
            <a:ext cx="209550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6D739-E960-4399-85C5-85DC190D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19250"/>
            <a:ext cx="1447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1A2A"/>
                </a:solidFill>
              </a:defRPr>
            </a:pPr>
            <a:r>
              <a:rPr sz="2025" b="1">
                <a:solidFill>
                  <a:srgbClr val="0F1A2A"/>
                </a:solidFill>
              </a:rPr>
              <a:t>The demo should feel like a working review room, not a backend architecture tour.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BAC1D-CF38-40EC-B763-05858229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RigSight AI sales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0C9C8-3485-413B-A368-45294DF3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892301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EB635E-AE17-40CD-92B9-A380B308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1A3A1-BC70-47B8-AD18-29D46E6A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33350"/>
            <a:ext cx="990600" cy="672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F50DC-463D-4E8D-8BE5-9BD9C8BB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7E6B"/>
                </a:solidFill>
              </a:defRPr>
            </a:pPr>
            <a:r>
              <a:rPr sz="1125" b="1">
                <a:solidFill>
                  <a:srgbClr val="1D7E6B"/>
                </a:solidFill>
              </a:rPr>
              <a:t>FIRST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ACB1A-C334-4E39-B63B-33D637D2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1A2A"/>
                </a:solidFill>
              </a:defRPr>
            </a:pPr>
            <a:r>
              <a:rPr sz="4050" b="1">
                <a:solidFill>
                  <a:srgbClr val="0F1A2A"/>
                </a:solidFill>
              </a:rPr>
              <a:t>The run, not the backend, is the center of the workspace.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86849-67CD-4132-8304-940C7BB3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57400"/>
            <a:ext cx="105537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067c6c8af47b0"/>
          <a:srcRect xmlns:a="http://schemas.openxmlformats.org/drawingml/2006/main" l="0" t="38750" r="0" b="387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152650"/>
            <a:ext cx="10363200" cy="3562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3BE08-F063-4F4A-92AF-B3185964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RigSight AI sales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4BC7F-02D3-4A69-AF5A-762FBDD1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508067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8A13F7-4BFA-4717-BA09-D6A0EE14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8C"/>
          </a:solidFill>
          <a:ln xmlns:a="http://schemas.openxmlformats.org/drawingml/2006/main" w="0">
            <a:solidFill>
              <a:srgbClr val="1F5B8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B8C1B-B044-4AE7-BE1C-1D696637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33350"/>
            <a:ext cx="990600" cy="672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1217D-E899-45DC-8202-8C523E28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7E6B"/>
                </a:solidFill>
              </a:defRPr>
            </a:pPr>
            <a:r>
              <a:rPr sz="1125" b="1">
                <a:solidFill>
                  <a:srgbClr val="1D7E6B"/>
                </a:solidFill>
              </a:rPr>
              <a:t>TELEMETRY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D3BF7-0EE2-4BBA-B760-9FBD0AA8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1A2A"/>
                </a:solidFill>
              </a:defRPr>
            </a:pPr>
            <a:r>
              <a:rPr sz="4050" b="1">
                <a:solidFill>
                  <a:srgbClr val="0F1A2A"/>
                </a:solidFill>
              </a:rPr>
              <a:t>The investigation starts from sensor behavior, not a static 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88502-B409-4A1D-8376-566B568C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70485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54aa1b1d04dc9"/>
          <a:srcRect xmlns:a="http://schemas.openxmlformats.org/drawingml/2006/main" l="0" t="34455" r="0" b="34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266950"/>
            <a:ext cx="6858000" cy="3257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B8D23-5B74-4F72-B1A8-8638E8B7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29337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29BEA-0BFF-4473-9EF1-8B098809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5B8C"/>
                </a:solidFill>
              </a:defRPr>
            </a:pPr>
            <a:r>
              <a:rPr sz="1350" b="1">
                <a:solidFill>
                  <a:srgbClr val="1F5B8C"/>
                </a:solidFill>
              </a:rPr>
              <a:t>Talk track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6D630-3B62-47B9-8F8F-4A0928B8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33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DB7EA-961A-4CDE-8A17-C8017A55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A2A"/>
                </a:solidFill>
              </a:defRPr>
            </a:pPr>
            <a:r>
              <a:rPr sz="1500">
                <a:solidFill>
                  <a:srgbClr val="0F1A2A"/>
                </a:solidFill>
              </a:rPr>
              <a:t>Select the current run.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BCE0D-652C-4F7E-B8FC-790489E7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62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8C"/>
          </a:solidFill>
          <a:ln xmlns:a="http://schemas.openxmlformats.org/drawingml/2006/main" w="0">
            <a:solidFill>
              <a:srgbClr val="1F5B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4ED21-74C0-4EEA-A214-32EB4F47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766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A2A"/>
                </a:solidFill>
              </a:defRPr>
            </a:pPr>
            <a:r>
              <a:rPr sz="1500">
                <a:solidFill>
                  <a:srgbClr val="0F1A2A"/>
                </a:solidFill>
              </a:rPr>
              <a:t>Show the metric trend and phase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1282F-D90A-4672-BD56-5A94F6A0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91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C1BE4-7B58-4144-A0F3-9990A293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053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A2A"/>
                </a:solidFill>
              </a:defRPr>
            </a:pPr>
            <a:r>
              <a:rPr sz="1500">
                <a:solidFill>
                  <a:srgbClr val="0F1A2A"/>
                </a:solidFill>
              </a:rPr>
              <a:t>Explain that thresholds and ML alerts attach back to these readings.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9EA0E-A55C-4BB1-AC60-B23D3D1A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RigSight AI sales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258B0-6305-44EF-AA50-87598C39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78992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592881-E71F-48BA-911D-4689C8C1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D22"/>
          </a:solidFill>
          <a:ln xmlns:a="http://schemas.openxmlformats.org/drawingml/2006/main" w="0">
            <a:solidFill>
              <a:srgbClr val="C16D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BD826-0292-4174-80D2-43F4F6CA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33350"/>
            <a:ext cx="990600" cy="672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790A7-D293-4455-AAEE-5991AF6E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7E6B"/>
                </a:solidFill>
              </a:defRPr>
            </a:pPr>
            <a:r>
              <a:rPr sz="1125" b="1">
                <a:solidFill>
                  <a:srgbClr val="1D7E6B"/>
                </a:solidFill>
              </a:rPr>
              <a:t>EXPLAINABILITY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AE368-8E7F-486D-8EEC-54B959BA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1A2A"/>
                </a:solidFill>
              </a:defRPr>
            </a:pPr>
            <a:r>
              <a:rPr sz="4050" b="1">
                <a:solidFill>
                  <a:srgbClr val="0F1A2A"/>
                </a:solidFill>
              </a:rPr>
              <a:t>Alerts need to say why they fired and what to do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773D8-E1EE-4756-8D83-BA74CB63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70485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d41d94e204a5b"/>
          <a:srcRect xmlns:a="http://schemas.openxmlformats.org/drawingml/2006/main" l="0" t="34455" r="0" b="34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266950"/>
            <a:ext cx="6858000" cy="3257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5A386-9E52-481B-B362-12320F41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29337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36E16-DC83-40F4-A6D3-7D9DF4F2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9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1949B-7840-44F7-8131-DD850770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A2A"/>
                </a:solidFill>
              </a:defRPr>
            </a:pPr>
            <a:r>
              <a:rPr sz="1500">
                <a:solidFill>
                  <a:srgbClr val="0F1A2A"/>
                </a:solidFill>
              </a:rPr>
              <a:t>Rules show configured range and observed value.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0E0E9-3FC8-44A9-91AA-C24689F9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8C"/>
          </a:solidFill>
          <a:ln xmlns:a="http://schemas.openxmlformats.org/drawingml/2006/main" w="0">
            <a:solidFill>
              <a:srgbClr val="1F5B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9DA48-CFD0-49AF-AEF5-D0BA059B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099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A2A"/>
                </a:solidFill>
              </a:defRPr>
            </a:pPr>
            <a:r>
              <a:rPr sz="1500">
                <a:solidFill>
                  <a:srgbClr val="0F1A2A"/>
                </a:solidFill>
              </a:rPr>
              <a:t>ML flags unusual cross-sensor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C4ABF-9E98-456D-BB24-8E6A2BE7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1E723-2AC0-47D6-B3CB-E7B15B35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A2A"/>
                </a:solidFill>
              </a:defRPr>
            </a:pPr>
            <a:r>
              <a:rPr sz="1500">
                <a:solidFill>
                  <a:srgbClr val="0F1A2A"/>
                </a:solidFill>
              </a:rPr>
              <a:t>The recommendation is written for the test engineer reviewing the run.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A4E518-4914-407D-8E15-2399C945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RigSight AI sales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4AE81-D6B8-4ED7-A3A9-D287CF69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66049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74F897-1F68-4698-9B0C-DBFAF2F0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BE450-9913-4BCC-816C-A292F4F4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33350"/>
            <a:ext cx="990600" cy="672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F01A2-EA16-4752-9FD6-DF59F62E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7E6B"/>
                </a:solidFill>
              </a:defRPr>
            </a:pPr>
            <a:r>
              <a:rPr sz="1125" b="1">
                <a:solidFill>
                  <a:srgbClr val="1D7E6B"/>
                </a:solidFill>
              </a:rPr>
              <a:t>HUMAN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A23AA-0D64-45F6-9CF0-B0E9E897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1A2A"/>
                </a:solidFill>
              </a:defRPr>
            </a:pPr>
            <a:r>
              <a:rPr sz="4050" b="1">
                <a:solidFill>
                  <a:srgbClr val="0F1A2A"/>
                </a:solidFill>
              </a:rPr>
              <a:t>The review queue creates a decision trail for the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2D4FD-8AD2-419E-99C9-9EC6225E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70485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6ecaca5674488"/>
          <a:srcRect xmlns:a="http://schemas.openxmlformats.org/drawingml/2006/main" l="0" t="34455" r="0" b="34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266950"/>
            <a:ext cx="6858000" cy="3257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70A9F-1511-4C71-A63D-F1C78F31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29337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16EE9-D90F-4283-A9D6-11ADA90B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9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7974F-C7A6-4668-A16A-F8BAF08E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A2A"/>
                </a:solidFill>
              </a:defRPr>
            </a:pPr>
            <a:r>
              <a:rPr sz="1500">
                <a:solidFill>
                  <a:srgbClr val="0F1A2A"/>
                </a:solidFill>
              </a:rPr>
              <a:t>Assign follow-up ownership.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3A0F4-22B6-4237-859E-9816EF1F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8C"/>
          </a:solidFill>
          <a:ln xmlns:a="http://schemas.openxmlformats.org/drawingml/2006/main" w="0">
            <a:solidFill>
              <a:srgbClr val="1F5B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68390-8E65-4EF6-9BCE-E4072BF7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099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A2A"/>
                </a:solidFill>
              </a:defRPr>
            </a:pPr>
            <a:r>
              <a:rPr sz="1500">
                <a:solidFill>
                  <a:srgbClr val="0F1A2A"/>
                </a:solidFill>
              </a:rPr>
              <a:t>Confirm, dismiss, or flag for follow-up.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42509-8A3F-4031-BC53-5CEA7818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F1317-BC07-473F-8340-A72EA719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A2A"/>
                </a:solidFill>
              </a:defRPr>
            </a:pPr>
            <a:r>
              <a:rPr sz="1500">
                <a:solidFill>
                  <a:srgbClr val="0F1A2A"/>
                </a:solidFill>
              </a:rPr>
              <a:t>Preserve the reviewer decision alongside the alert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833E3-E50B-440B-A5D5-31065130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RigSight AI sales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BB6BC-952C-439A-BC82-4F011BBF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48123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495473-2453-4317-A2CE-2B08C7EF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8C"/>
          </a:solidFill>
          <a:ln xmlns:a="http://schemas.openxmlformats.org/drawingml/2006/main" w="0">
            <a:solidFill>
              <a:srgbClr val="1F5B8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088CF-70DD-447A-A0D4-74E10522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33350"/>
            <a:ext cx="990600" cy="672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6DD39-2110-4BFB-B964-4FD6ABBE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7E6B"/>
                </a:solidFill>
              </a:defRPr>
            </a:pPr>
            <a:r>
              <a:rPr sz="1125" b="1">
                <a:solidFill>
                  <a:srgbClr val="1D7E6B"/>
                </a:solidFill>
              </a:rPr>
              <a:t>PILOT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88526-F927-4F71-B0D7-40B40FCD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1A2A"/>
                </a:solidFill>
              </a:defRPr>
            </a:pPr>
            <a:r>
              <a:rPr sz="4050" b="1">
                <a:solidFill>
                  <a:srgbClr val="0F1A2A"/>
                </a:solidFill>
              </a:rPr>
              <a:t>A prospect can try the workflow with sanitized CSV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F2E2E-D8C9-4CE1-A16B-B08C6989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70485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42dfcb33f4efa"/>
          <a:srcRect xmlns:a="http://schemas.openxmlformats.org/drawingml/2006/main" l="0" t="34455" r="0" b="34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266950"/>
            <a:ext cx="6858000" cy="3257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2A197-90AC-4F1A-BA8F-49E5637F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29337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3E931-68F8-4864-B1FF-2997D0DC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9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59F35-E071-46C3-8FC7-2CE67E83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A2A"/>
                </a:solidFill>
              </a:defRPr>
            </a:pPr>
            <a:r>
              <a:rPr sz="1500">
                <a:solidFill>
                  <a:srgbClr val="0F1A2A"/>
                </a:solidFill>
              </a:rPr>
              <a:t>Use the CSV template as the demo handoff.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90D8A-3CAD-4006-A468-7A5D46E1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8C"/>
          </a:solidFill>
          <a:ln xmlns:a="http://schemas.openxmlformats.org/drawingml/2006/main" w="0">
            <a:solidFill>
              <a:srgbClr val="1F5B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F25C4-1BBB-4F36-9C78-441A1A41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099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A2A"/>
                </a:solidFill>
              </a:defRPr>
            </a:pPr>
            <a:r>
              <a:rPr sz="1500">
                <a:solidFill>
                  <a:srgbClr val="0F1A2A"/>
                </a:solidFill>
              </a:rPr>
              <a:t>Preview validation errors before upload.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AADC1-F233-4D3A-991A-604E3AE8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A7D22-56D9-4BEC-9A95-74F15DE2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A2A"/>
                </a:solidFill>
              </a:defRPr>
            </a:pPr>
            <a:r>
              <a:rPr sz="1500">
                <a:solidFill>
                  <a:srgbClr val="0F1A2A"/>
                </a:solidFill>
              </a:rPr>
              <a:t>Export the same run as JSON, HTML, or PDF.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9DFFEB-B893-488B-9744-8684BD61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RigSight AI sales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057D6B-1D86-497B-A726-C9F29A73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747375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667A26-E704-4D32-866E-2DEA13BA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53F2A-10CC-440A-B476-6F0F7B93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33350"/>
            <a:ext cx="990600" cy="672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2F228-C442-4C96-B819-F6D131DA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7E6B"/>
                </a:solidFill>
              </a:defRPr>
            </a:pPr>
            <a:r>
              <a:rPr sz="1125" b="1">
                <a:solidFill>
                  <a:srgbClr val="1D7E6B"/>
                </a:solidFill>
              </a:rPr>
              <a:t>TUNING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196C2-33A3-40E3-BA50-52F55EF4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1A2A"/>
                </a:solidFill>
              </a:defRPr>
            </a:pPr>
            <a:r>
              <a:rPr sz="4050" b="1">
                <a:solidFill>
                  <a:srgbClr val="0F1A2A"/>
                </a:solidFill>
              </a:rPr>
              <a:t>Thresholds can match the test stand before adding enterprise auth.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0D1DA-416E-4DC6-8E96-A9CB9C1B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70485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b4f20253b487a"/>
          <a:srcRect xmlns:a="http://schemas.openxmlformats.org/drawingml/2006/main" l="0" t="34455" r="0" b="34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266950"/>
            <a:ext cx="6858000" cy="3257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C443A-9606-4310-AB30-E5026535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29337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F8796-91A8-4594-B7D2-7D7A51E9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9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B33EC-E223-44C5-9D76-9A201F54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A2A"/>
                </a:solidFill>
              </a:defRPr>
            </a:pPr>
            <a:r>
              <a:rPr sz="1500">
                <a:solidFill>
                  <a:srgbClr val="0F1A2A"/>
                </a:solidFill>
              </a:rPr>
              <a:t>Configure sensor limits per rig.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A5C65-004C-4FAB-836E-3805F002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8C"/>
          </a:solidFill>
          <a:ln xmlns:a="http://schemas.openxmlformats.org/drawingml/2006/main" w="0">
            <a:solidFill>
              <a:srgbClr val="1F5B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E5CA7-4A22-41C8-97E0-8CEF3D3D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099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A2A"/>
                </a:solidFill>
              </a:defRPr>
            </a:pPr>
            <a:r>
              <a:rPr sz="1500">
                <a:solidFill>
                  <a:srgbClr val="0F1A2A"/>
                </a:solidFill>
              </a:rPr>
              <a:t>Recalculate rule alerts while preserving matching review state.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DDCA2-E1EA-4BFC-AC0A-DB994209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A5BEE-3587-48BE-9E37-34FDDE37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A2A"/>
                </a:solidFill>
              </a:defRPr>
            </a:pPr>
            <a:r>
              <a:rPr sz="1500">
                <a:solidFill>
                  <a:srgbClr val="0F1A2A"/>
                </a:solidFill>
              </a:rPr>
              <a:t>Keep SSO and RBAC out of scope until a customer asks for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2BCF6-54CB-45BB-A36E-484B7120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RigSight AI sales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AB60A-B618-40D5-83B7-B6F43E29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14801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835700-AA5B-44A0-8AFC-00933087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6D22"/>
          </a:solidFill>
          <a:ln xmlns:a="http://schemas.openxmlformats.org/drawingml/2006/main" w="0">
            <a:solidFill>
              <a:srgbClr val="C16D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904D9-695B-49AA-8217-E87BAB5D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33350"/>
            <a:ext cx="990600" cy="672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8A4E0-CB1E-4359-932C-C3E03EE0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7E6B"/>
                </a:solidFill>
              </a:defRPr>
            </a:pPr>
            <a:r>
              <a:rPr sz="1125" b="1">
                <a:solidFill>
                  <a:srgbClr val="1D7E6B"/>
                </a:solidFill>
              </a:rPr>
              <a:t>PILOT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F5CAD-9070-454A-8D60-67063CF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1A2A"/>
                </a:solidFill>
              </a:defRPr>
            </a:pPr>
            <a:r>
              <a:rPr sz="4050" b="1">
                <a:solidFill>
                  <a:srgbClr val="0F1A2A"/>
                </a:solidFill>
              </a:rPr>
              <a:t>The sales motion is a short paid pilot with clear handoffs.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AE40C-64EF-4AF3-B513-BEB482F1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E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16B42-D9D2-4EA5-BD92-0CC9A307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A2A"/>
                </a:solidFill>
              </a:defRPr>
            </a:pPr>
            <a:r>
              <a:rPr sz="1800" b="1">
                <a:solidFill>
                  <a:srgbClr val="0F1A2A"/>
                </a:solidFill>
              </a:rPr>
              <a:t>1. Bring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45B65-50D5-4E9B-AA93-91A54A4D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77D"/>
                </a:solidFill>
              </a:defRPr>
            </a:pPr>
            <a:r>
              <a:rPr sz="1350">
                <a:solidFill>
                  <a:srgbClr val="58677D"/>
                </a:solidFill>
              </a:rPr>
              <a:t>Customer shares sanitized CSV telemetry using the template.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5FC7D-4679-4707-9BD4-2FD21535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97DB8-D079-4AF2-995D-33E5B91F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194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A2A"/>
                </a:solidFill>
              </a:defRPr>
            </a:pPr>
            <a:r>
              <a:rPr sz="1800" b="1">
                <a:solidFill>
                  <a:srgbClr val="0F1A2A"/>
                </a:solidFill>
              </a:rPr>
              <a:t>2. Tune 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DFBFB-2B3B-4770-A0CF-512F442F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480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77D"/>
                </a:solidFill>
              </a:defRPr>
            </a:pPr>
            <a:r>
              <a:rPr sz="1350">
                <a:solidFill>
                  <a:srgbClr val="58677D"/>
                </a:solidFill>
              </a:rPr>
              <a:t>Set sensor thresholds with the validation engineer.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8033C-85B7-464E-AF01-F1FE6E02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E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2BE8E-0EDF-4A73-B238-506A43E4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A2A"/>
                </a:solidFill>
              </a:defRPr>
            </a:pPr>
            <a:r>
              <a:rPr sz="1800" b="1">
                <a:solidFill>
                  <a:srgbClr val="0F1A2A"/>
                </a:solidFill>
              </a:rPr>
              <a:t>3. Review alerts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29087-3A14-4B77-8393-458B22B7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77D"/>
                </a:solidFill>
              </a:defRPr>
            </a:pPr>
            <a:r>
              <a:rPr sz="1350">
                <a:solidFill>
                  <a:srgbClr val="58677D"/>
                </a:solidFill>
              </a:rPr>
              <a:t>Walk through rule and ML detections with recommendations.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59ABE-1971-48EB-AF78-17476800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A3817-6B1E-4FCB-AED7-3A73F260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A2A"/>
                </a:solidFill>
              </a:defRPr>
            </a:pPr>
            <a:r>
              <a:rPr sz="1800" b="1">
                <a:solidFill>
                  <a:srgbClr val="0F1A2A"/>
                </a:solidFill>
              </a:rPr>
              <a:t>4. Export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92323-E5F5-4B71-9159-C495D53E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48050"/>
            <a:ext cx="2057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8677D"/>
                </a:solidFill>
              </a:defRPr>
            </a:pPr>
            <a:r>
              <a:rPr sz="1350">
                <a:solidFill>
                  <a:srgbClr val="58677D"/>
                </a:solidFill>
              </a:rPr>
              <a:t>Generate a branded run report and agree on success criteria.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62C1A-E977-4CF4-95F3-74642DD1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RigSight AI sales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64525-5BEC-4D4B-93D6-37CC9EED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819026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E06FEC-4F6B-4A3B-A002-88570ED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8C"/>
          </a:solidFill>
          <a:ln xmlns:a="http://schemas.openxmlformats.org/drawingml/2006/main" w="0">
            <a:solidFill>
              <a:srgbClr val="1F5B8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BFE1A-6FDB-4F2D-8D03-4CA03B90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33350"/>
            <a:ext cx="990600" cy="672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0">
            <a:solidFill>
              <a:srgbClr val="EAF0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1332B-BFF0-4652-BB79-867C072C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7E6B"/>
                </a:solidFill>
              </a:defRPr>
            </a:pPr>
            <a:r>
              <a:rPr sz="1125" b="1">
                <a:solidFill>
                  <a:srgbClr val="1D7E6B"/>
                </a:solidFill>
              </a:rPr>
              <a:t>PUBLIC DEMO 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9C797-ED75-4378-A43C-DEAA2190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1A2A"/>
                </a:solidFill>
              </a:defRPr>
            </a:pPr>
            <a:r>
              <a:rPr sz="4050" b="1">
                <a:solidFill>
                  <a:srgbClr val="0F1A2A"/>
                </a:solidFill>
              </a:rPr>
              <a:t>Host a private demo link before selling self-serve SaaS.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1792A-DB26-4C3D-80A6-B9C7FEF5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62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E7E89-2632-4D41-A7C6-3F621623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A2A"/>
                </a:solidFill>
              </a:defRPr>
            </a:pPr>
            <a:r>
              <a:rPr sz="1650">
                <a:solidFill>
                  <a:srgbClr val="0F1A2A"/>
                </a:solidFill>
              </a:rPr>
              <a:t>Frontend: deploy the Vite app to Vercel or Netlify with demo environment variables.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EC1B5-901E-448B-8E1A-1233DF40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28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8C"/>
          </a:solidFill>
          <a:ln xmlns:a="http://schemas.openxmlformats.org/drawingml/2006/main" w="0">
            <a:solidFill>
              <a:srgbClr val="1F5B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D8D2E-1CEB-4BF3-B607-0C3A34FD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A2A"/>
                </a:solidFill>
              </a:defRPr>
            </a:pPr>
            <a:r>
              <a:rPr sz="1650">
                <a:solidFill>
                  <a:srgbClr val="0F1A2A"/>
                </a:solidFill>
              </a:rPr>
              <a:t>Backend: deploy FastAPI on Render, Fly.io, Railway, or Azure Container Apps.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4836F-633D-49A1-A82F-DE3ED1B8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E6B"/>
          </a:solidFill>
          <a:ln xmlns:a="http://schemas.openxmlformats.org/drawingml/2006/main" w="0">
            <a:solidFill>
              <a:srgbClr val="1D7E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0114D-4930-4674-AABC-6DC7A481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A2A"/>
                </a:solidFill>
              </a:defRPr>
            </a:pPr>
            <a:r>
              <a:rPr sz="1650">
                <a:solidFill>
                  <a:srgbClr val="0F1A2A"/>
                </a:solidFill>
              </a:rPr>
              <a:t>Database: use managed Postgres, run Alembic migrations, and seed clean demo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DAF1E-8866-49B2-8CA9-1E09F498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62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B8C"/>
          </a:solidFill>
          <a:ln xmlns:a="http://schemas.openxmlformats.org/drawingml/2006/main" w="0">
            <a:solidFill>
              <a:srgbClr val="1F5B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24461-9DB5-466B-B43F-8C8FAA81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A2A"/>
                </a:solidFill>
              </a:defRPr>
            </a:pPr>
            <a:r>
              <a:rPr sz="1650">
                <a:solidFill>
                  <a:srgbClr val="0F1A2A"/>
                </a:solidFill>
              </a:rPr>
              <a:t>Controls: protect the demo with a shared password or basic auth, add uptime checks, and reset demo data nightly.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67E42-958A-46C6-8AEC-71BC6C51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524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AAC0E-1239-4B64-BB43-2637C420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2415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7E6B"/>
                </a:solidFill>
              </a:defRPr>
            </a:pPr>
            <a:r>
              <a:rPr sz="1500" b="1">
                <a:solidFill>
                  <a:srgbClr val="1D7E6B"/>
                </a:solidFill>
              </a:rPr>
              <a:t>Goal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EB592-096C-40F2-804D-109EF147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57550"/>
            <a:ext cx="914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A2A"/>
                </a:solidFill>
              </a:defRPr>
            </a:pPr>
            <a:r>
              <a:rPr sz="1275">
                <a:solidFill>
                  <a:srgbClr val="0F1A2A"/>
                </a:solidFill>
              </a:rPr>
              <a:t>A reliable link for discovery calls and pilot follow-up, without implying full enterprise readiness.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DF033-3C0F-463B-802E-118AAC2C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RigSight AI sales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15850-715C-4BF7-967C-A578908A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436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8677D"/>
                </a:solidFill>
              </a:defRPr>
            </a:pPr>
            <a:r>
              <a:rPr sz="975">
                <a:solidFill>
                  <a:srgbClr val="58677D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75887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2026-07-04T20:22:49.2860000Z</dcterms:created>
  <dcterms:modified xsi:type="dcterms:W3CDTF">2026-07-04T20:22:49.2860000Z</dcterms:modified>
</coreProperties>
</file>